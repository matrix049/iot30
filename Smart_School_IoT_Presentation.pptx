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54864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91640" cy="169164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7080" y="411480"/>
            <a:ext cx="868680" cy="86868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A9DCEC"/>
                </a:solidFill>
                <a:latin typeface="Calibri"/>
              </a:rPr>
              <a:t>PROJET IoT  -  EMSI 2025/2026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Smart School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A9DCEC"/>
                </a:solidFill>
                <a:latin typeface="Calibri"/>
              </a:rPr>
              <a:t>Systeme intelligent de surveillance pour etablissements scolaires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Realise par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Soufiane KELMOUS  -  Abdellah ELMIR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A9DCEC"/>
                </a:solidFill>
                <a:latin typeface="Calibri"/>
              </a:rPr>
              <a:t>Filiere : Data &amp; IA  -  Encadre par : Mr. Anass DEROUSSI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Plan de la presentation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417320"/>
            <a:ext cx="548640" cy="548640"/>
          </a:xfrm>
          <a:prstGeom prst="ellipse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3990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1F3A"/>
                </a:solidFill>
                <a:latin typeface="Calibri"/>
              </a:rPr>
              <a:t>Introduction &amp; resume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09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Contexte, objectifs et apercu du projet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762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1F3A"/>
                </a:solidFill>
                <a:latin typeface="Calibri"/>
              </a:rPr>
              <a:t>Problematique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48716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Defis de la surveillance dans les etablissements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971800"/>
            <a:ext cx="548640" cy="548640"/>
          </a:xfrm>
          <a:prstGeom prst="ellipse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95351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1F3A"/>
                </a:solidFill>
                <a:latin typeface="Calibri"/>
              </a:rPr>
              <a:t>Solution proposee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644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Architecture IoT de bout en bout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749039"/>
            <a:ext cx="548640" cy="548640"/>
          </a:xfrm>
          <a:prstGeom prst="ellipse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730751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1F3A"/>
                </a:solidFill>
                <a:latin typeface="Calibri"/>
              </a:rPr>
              <a:t>Etude des besoins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041647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Besoins fonctionnels et non-fonctionnels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526280"/>
            <a:ext cx="548640" cy="548640"/>
          </a:xfrm>
          <a:prstGeom prst="ellipse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50799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1F3A"/>
                </a:solidFill>
                <a:latin typeface="Calibri"/>
              </a:rPr>
              <a:t>Etude technique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81888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Materiel, protocoles et stack logicielle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2852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1F3A"/>
                </a:solidFill>
                <a:latin typeface="Calibri"/>
              </a:rPr>
              <a:t>Realisation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5961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Captures d'ecran et demonstration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Contexte et resume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1F3A"/>
                </a:solidFill>
                <a:latin typeface="Calibri"/>
              </a:rPr>
              <a:t>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L'Internet des Objets (IoT) transforme les espaces educatifs en environnements connectes, capables de mesurer, analyser et reagir en temps reel. Notre projet applique ces principes a l'echelle d'une salle de classe afin d'ameliorer le confort, la securite et la qualite d'apprentissage des etudiants.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1F3A"/>
                </a:solidFill>
                <a:latin typeface="Calibri"/>
              </a:rPr>
              <a:t>Resume du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97280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2E9CCA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Microcontroleur ESP32 simule sur Wokwi avec 7 capteurs (DHT22, PIR, LDR, MQ-135, etc.)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2E9CCA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Communication MQTT vers un broker public (HiveMQ) pour la telemetrie temps reel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2E9CCA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Backend Node.js (Express + Socket.IO) qui ingere, stocke et diffuse les donnees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2E9CCA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Dashboard web temps reel affichant 4 salles avec alertes par seuils configurables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2E9CCA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Regles autonomes embarquees : auto-eclairage, anti-intrusion, alerte qualite d'air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Quels sont les defis a resoudre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1F3A"/>
                </a:solidFill>
                <a:latin typeface="Calibri"/>
              </a:rPr>
              <a:t>Comment garantir un environnement scolaire sain, securise et reactif tout en limitant l'intervention humaine permanente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486400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486400" cy="50292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Constats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1206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2E9CCA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Surveillance manuelle des salles (temperature, occupation)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2E9CCA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Detection tardive des intrusions hors heures de cours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2E9CCA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Aucun suivi en temps reel de la qualite de l'air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2E9CCA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Pas de centralisation des donnees par salle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2E9CCA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Difficulte a justifier ou tracer les incidents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486400" cy="40233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5486400" cy="502920"/>
          </a:xfrm>
          <a:prstGeom prst="rect">
            <a:avLst/>
          </a:prstGeom>
          <a:solidFill>
            <a:srgbClr val="F28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Consequences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512064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F28B30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Risque sanitaire : air confine, baisse de concentration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F28B30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Vulnerabilite : acces non autorises non detectes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F28B30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Couts d'energie : eclairage et climatisation non optimises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F28B30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Decisions sans donnees objectives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F28B30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Manque de reactivite face aux situations d'urgence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Solution proposee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Architecture IoT de bout en 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A"/>
                </a:solidFill>
                <a:latin typeface="Calibri"/>
              </a:rPr>
              <a:t>Une chaine complete : du capteur physique au tableau de bord temps reel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887" y="2286000"/>
            <a:ext cx="2011680" cy="146304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Capteurs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DHT22, PIR,
LDR, MQ-135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30855" y="2953512"/>
            <a:ext cx="146304" cy="128016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95447" y="2286000"/>
            <a:ext cx="2011680" cy="1463040"/>
          </a:xfrm>
          <a:prstGeom prst="round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ESP32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Lecture +
regles locales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25415" y="2953512"/>
            <a:ext cx="146304" cy="128016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0007" y="2286000"/>
            <a:ext cx="2011680" cy="146304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MQTT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Broker public
HiveMQ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19975" y="2953512"/>
            <a:ext cx="146304" cy="128016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84567" y="2286000"/>
            <a:ext cx="2011680" cy="1463040"/>
          </a:xfrm>
          <a:prstGeom prst="round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Backend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Node.js
Express + IO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14535" y="2953512"/>
            <a:ext cx="146304" cy="128016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79127" y="2286000"/>
            <a:ext cx="2011680" cy="146304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Dashboard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Temps reel
Socket.IO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1F3A"/>
                </a:solidFill>
                <a:latin typeface="Calibri"/>
              </a:rPr>
              <a:t>Apports 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2E9CCA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Temps reel : latence &lt; 1 seconde du capteur au navigateur (WebSocket)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2E9CCA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Autonomie : l'ESP32 reagit physiquement (LEDs, relais) meme sans reseau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2E9CCA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Scalabilite : architecture multi-salles (1 reelle + 3 simulees)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100" b="1">
                <a:solidFill>
                  <a:srgbClr val="2E9CCA"/>
                </a:solidFill>
              </a:rPr>
              <a:t>●  </a:t>
            </a:r>
            <a:r>
              <a:rPr sz="1300">
                <a:solidFill>
                  <a:srgbClr val="333333"/>
                </a:solidFill>
                <a:latin typeface="Calibri"/>
              </a:rPr>
              <a:t>Configurable : seuils d'alerte modifiables via API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Etude des besoins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Besoins fonctionnels et non-fonctionnels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Besoins fonctionnels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Lire en continu 7 capteurs par salle (T, H, mouvement, lumiere, bruit, air, presence)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Publier la telemetrie sur MQTT avec topics structures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Recevoir des commandes a distance (verrouillage, alarme)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Generer des alertes automatiques en cas de depassement de seuil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Auto-effacement des alertes lorsque la valeur revient a la normale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Persister l'historique des lectures et alertes (JSON / SQL)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Exposer une API REST pour consulter et configurer le systeme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Afficher un tableau de bord web avec mise a jour temps reel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4937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50292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Besoins non-fonctionnels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12064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Performance : latence bout-en-bout inferieure a 1 seconde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Disponibilite : ESP32 fonctionne meme si le reseau est coupe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Scalabilite : architecture extensible a N salles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Securite : controle d'acces par relais, alertes en cas d'intrusion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Maintenabilite : code modulaire (alerts.js, store.js, simulator.js)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Portabilite : multi-OS (Windows, Linux, macOS) via scripts setup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Cout : utilise un broker MQTT public et du materiel grand public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Etude technique - 1/3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Architecture detaillee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698480" cy="868680"/>
          </a:xfrm>
          <a:prstGeom prst="rect">
            <a:avLst/>
          </a:prstGeom>
          <a:solidFill>
            <a:srgbClr val="A9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A"/>
                </a:solidFill>
                <a:latin typeface="Calibri"/>
              </a:rPr>
              <a:t>Couche capteurs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F3A"/>
                </a:solidFill>
                <a:latin typeface="Calibri"/>
              </a:rPr>
              <a:t>DHT22  -  PIR  -  LDR  -  MQ-135  -  Joystick  -  IR  -  Relais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10698480" cy="86868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24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Couche edge / firmware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ESP32 (Arduino C++)  -  PubSubClient  -  Regles autonomes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10698480" cy="86868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4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Couche 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MQTT (HiveMQ public)  -  Topics smartschool/classroomN/&lt;sensor&gt;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34840"/>
            <a:ext cx="10698480" cy="86868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Couche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Node.js  -  Express  -  mqtt.js  -  Socket.IO  -  Stockage 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94960"/>
            <a:ext cx="10698480" cy="868680"/>
          </a:xfrm>
          <a:prstGeom prst="rect">
            <a:avLst/>
          </a:prstGeom>
          <a:solidFill>
            <a:srgbClr val="A9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046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A"/>
                </a:solidFill>
                <a:latin typeface="Calibri"/>
              </a:rPr>
              <a:t>Couche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F3A"/>
                </a:solidFill>
                <a:latin typeface="Calibri"/>
              </a:rPr>
              <a:t>Dashboard HTML/CSS/JS  -  Socket.IO client  -  API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Etude technique - 2/3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Stack technologique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657600" cy="50292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Materiel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657600" cy="4434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1F3A"/>
                </a:solidFill>
                <a:latin typeface="Calibri"/>
              </a:rPr>
              <a:t>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Microcontroleur Wi-Fi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1F3A"/>
                </a:solidFill>
                <a:latin typeface="Calibri"/>
              </a:rPr>
              <a:t>Wokwi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4553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Simulateur de circuit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941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1F3A"/>
                </a:solidFill>
                <a:latin typeface="Calibri"/>
              </a:rPr>
              <a:t>DHT22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Temperature / Humidite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354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1F3A"/>
                </a:solidFill>
                <a:latin typeface="Calibri"/>
              </a:rPr>
              <a:t>MQ-135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280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Qualite de l'air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766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1F3A"/>
                </a:solidFill>
                <a:latin typeface="Calibri"/>
              </a:rPr>
              <a:t>Relais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Verrou / Sirene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1371600"/>
            <a:ext cx="3657600" cy="50292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463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Logiciel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1874519"/>
            <a:ext cx="3657600" cy="4434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2011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9CCA"/>
                </a:solidFill>
                <a:latin typeface="Calibri"/>
              </a:rPr>
              <a:t>Arduino / C++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3042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Firmware ESP32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8529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9CCA"/>
                </a:solidFill>
                <a:latin typeface="Calibri"/>
              </a:rPr>
              <a:t>PlatformIO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14553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Build &amp; flash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6941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9CCA"/>
                </a:solidFill>
                <a:latin typeface="Calibri"/>
              </a:rPr>
              <a:t>Node.js 18+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98678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Runtime 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5354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9CCA"/>
                </a:solidFill>
                <a:latin typeface="Calibri"/>
              </a:rPr>
              <a:t>Express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8280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Serveur HTTP /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3766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9CCA"/>
                </a:solidFill>
                <a:latin typeface="Calibri"/>
              </a:rPr>
              <a:t>Socket.IO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5669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WebSocket temps reel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1371600"/>
            <a:ext cx="3657600" cy="502920"/>
          </a:xfrm>
          <a:prstGeom prst="rect">
            <a:avLst/>
          </a:prstGeom>
          <a:solidFill>
            <a:srgbClr val="F28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463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Protocoles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1874519"/>
            <a:ext cx="3657600" cy="4434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2011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8B30"/>
                </a:solidFill>
                <a:latin typeface="Calibri"/>
              </a:rPr>
              <a:t>MQTT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3042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Telemetrie pub/sub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8529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8B30"/>
                </a:solidFill>
                <a:latin typeface="Calibri"/>
              </a:rPr>
              <a:t>HTTP / 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14553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API de configuration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6941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8B30"/>
                </a:solidFill>
                <a:latin typeface="Calibri"/>
              </a:rPr>
              <a:t>WebSocket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8678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Push temps reel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5354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8B30"/>
                </a:solidFill>
                <a:latin typeface="Calibri"/>
              </a:rPr>
              <a:t>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8280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Format des messages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3766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8B30"/>
                </a:solidFill>
                <a:latin typeface="Calibri"/>
              </a:rPr>
              <a:t>Wi-Fi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669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Connectivite ESP32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Etude technique - 3/3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Topics MQTT et regles autonomes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1F3A"/>
                </a:solidFill>
                <a:latin typeface="Calibri"/>
              </a:rPr>
              <a:t>Topics MQTT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9CCA"/>
                </a:solidFill>
                <a:latin typeface="Consolas"/>
              </a:rPr>
              <a:t>ESP32 -&gt; Broker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F3A"/>
                </a:solidFill>
                <a:latin typeface="Consolas"/>
              </a:rPr>
              <a:t>smartschool/classroom1/temperature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F3A"/>
                </a:solidFill>
                <a:latin typeface="Consolas"/>
              </a:rPr>
              <a:t>smartschool/classroom1/humidity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F3A"/>
                </a:solidFill>
                <a:latin typeface="Consolas"/>
              </a:rPr>
              <a:t>smartschool/classroom1/motion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F3A"/>
                </a:solidFill>
                <a:latin typeface="Consolas"/>
              </a:rPr>
              <a:t>smartschool/classroom1/light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F3A"/>
                </a:solidFill>
                <a:latin typeface="Consolas"/>
              </a:rPr>
              <a:t>smartschool/classroom1/air_quality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F3A"/>
                </a:solidFill>
                <a:latin typeface="Consolas"/>
              </a:rPr>
              <a:t>smartschool/classroom1/presence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F3A"/>
                </a:solidFill>
                <a:latin typeface="Consolas"/>
              </a:rPr>
              <a:t>smartschool/classroom1/lock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9CCA"/>
                </a:solidFill>
                <a:latin typeface="Consolas"/>
              </a:rPr>
              <a:t>Broker -&gt; ESP32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F3A"/>
                </a:solidFill>
                <a:latin typeface="Consolas"/>
              </a:rPr>
              <a:t>smartschool/classroom1/cmd/lock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1F3A"/>
                </a:solidFill>
                <a:latin typeface="Consolas"/>
              </a:rPr>
              <a:t>smartschool/classroom1/cmd/alarm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1F3A"/>
                </a:solidFill>
                <a:latin typeface="Calibri"/>
              </a:rPr>
              <a:t>Regles autonomes ESP32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828800"/>
            <a:ext cx="5212080" cy="777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828800"/>
            <a:ext cx="109728" cy="777240"/>
          </a:xfrm>
          <a:prstGeom prst="rect">
            <a:avLst/>
          </a:prstGeom>
          <a:solidFill>
            <a:srgbClr val="2EB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874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1F3A"/>
                </a:solidFill>
                <a:latin typeface="Calibri"/>
              </a:rPr>
              <a:t>Auto-eclairage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1488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Si : Lumiere &lt; 30% ET mouvement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331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EB86B"/>
                </a:solidFill>
                <a:latin typeface="Calibri"/>
              </a:rPr>
              <a:t>Alors : LED jaune ON 30s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697480"/>
            <a:ext cx="5212080" cy="777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697480"/>
            <a:ext cx="109728" cy="777240"/>
          </a:xfrm>
          <a:prstGeom prst="rect">
            <a:avLst/>
          </a:prstGeom>
          <a:solidFill>
            <a:srgbClr val="F28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743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1F3A"/>
                </a:solidFill>
                <a:latin typeface="Calibri"/>
              </a:rPr>
              <a:t>Anti-intrusion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017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Si : Lumiere &lt; 10% ET mouvement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28B30"/>
                </a:solidFill>
                <a:latin typeface="Calibri"/>
              </a:rPr>
              <a:t>Alors : Verrou + alarme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566160"/>
            <a:ext cx="5212080" cy="777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566160"/>
            <a:ext cx="109728" cy="777240"/>
          </a:xfrm>
          <a:prstGeom prst="rect">
            <a:avLst/>
          </a:prstGeom>
          <a:solidFill>
            <a:srgbClr val="F28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6118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1F3A"/>
                </a:solidFill>
                <a:latin typeface="Calibri"/>
              </a:rPr>
              <a:t>Alerte air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886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Si : CO2 &gt; 1500 ppm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0690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28B30"/>
                </a:solidFill>
                <a:latin typeface="Calibri"/>
              </a:rPr>
              <a:t>Alors : Alarme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434840"/>
            <a:ext cx="5212080" cy="777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434840"/>
            <a:ext cx="109728" cy="777240"/>
          </a:xfrm>
          <a:prstGeom prst="rect">
            <a:avLst/>
          </a:prstGeom>
          <a:solidFill>
            <a:srgbClr val="F28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1F3A"/>
                </a:solidFill>
                <a:latin typeface="Calibri"/>
              </a:rPr>
              <a:t>Urgence climat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7548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Si : Temperature &gt; 32 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937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28B30"/>
                </a:solidFill>
                <a:latin typeface="Calibri"/>
              </a:rPr>
              <a:t>Alors : Alarme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303520"/>
            <a:ext cx="5212080" cy="777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5303520"/>
            <a:ext cx="109728" cy="777240"/>
          </a:xfrm>
          <a:prstGeom prst="rect">
            <a:avLst/>
          </a:prstGeom>
          <a:solidFill>
            <a:srgbClr val="F28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3492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1F3A"/>
                </a:solidFill>
                <a:latin typeface="Calibri"/>
              </a:rPr>
              <a:t>Sur-capacite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5623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Si : &gt; 30 eleves comptes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58064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28B30"/>
                </a:solidFill>
                <a:latin typeface="Calibri"/>
              </a:rPr>
              <a:t>Alors : Sirene relais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Realisation 1/6 - Page d'accueil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Premier ecran que voit l'utilisateur</a:t>
            </a:r>
          </a:p>
        </p:txBody>
      </p:sp>
      <p:pic>
        <p:nvPicPr>
          <p:cNvPr id="6" name="Picture 5" descr="WhatsApp Image 2026-04-29 at 19.28.25 (4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772400" cy="3701606"/>
          </a:xfrm>
          <a:prstGeom prst="rect">
            <a:avLst/>
          </a:prstGeom>
          <a:ln w="12700">
            <a:solidFill>
              <a:srgbClr val="2E9CC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503920" y="14173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1F3A"/>
                </a:solidFill>
                <a:latin typeface="Calibri"/>
              </a:rPr>
              <a:t>Ce que vous voyez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28800"/>
            <a:ext cx="33832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Image de fond animee (ecole connectee)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Titre 'Welcome to School'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Bouton d'acces au tableau de bord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3 piliers du systeme :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  - Surveillance IoT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  - Alertes en Temps Reel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000" b="1">
                <a:solidFill>
                  <a:srgbClr val="2E9CCA"/>
                </a:solidFill>
              </a:rPr>
              <a:t>●  </a:t>
            </a:r>
            <a:r>
              <a:rPr sz="1200">
                <a:solidFill>
                  <a:srgbClr val="333333"/>
                </a:solidFill>
                <a:latin typeface="Calibri"/>
              </a:rPr>
              <a:t>  - Gestion Eco-Energetique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Realisation 2/6 - 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Vue d'ensemble en temps reel</a:t>
            </a:r>
          </a:p>
        </p:txBody>
      </p:sp>
      <p:pic>
        <p:nvPicPr>
          <p:cNvPr id="6" name="Picture 5" descr="WhatsApp Image 2026-04-29 at 19.28.2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8229600" cy="3909060"/>
          </a:xfrm>
          <a:prstGeom prst="rect">
            <a:avLst/>
          </a:prstGeom>
          <a:ln w="12700">
            <a:solidFill>
              <a:srgbClr val="2E9CC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869680" y="1417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A"/>
                </a:solidFill>
                <a:latin typeface="Calibri"/>
              </a:rPr>
              <a:t>Indicateurs globaux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783080"/>
            <a:ext cx="310896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Salles actives : 4/4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Temperature moyenne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Alertes en cours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Total eleves detectes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A"/>
                </a:solidFill>
                <a:latin typeface="Calibri"/>
              </a:rPr>
              <a:t>Par salle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4023360"/>
            <a:ext cx="310896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Temperature &amp; humidite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Luminosite &amp; bruit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Qualite de l'air (ppm)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Eleves / Mouvement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Verrou + alarme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Realisation 3/6 - Carte d'une salle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Etat normal vs etat verrouille</a:t>
            </a:r>
          </a:p>
        </p:txBody>
      </p:sp>
      <p:pic>
        <p:nvPicPr>
          <p:cNvPr id="6" name="Picture 5" descr="WhatsApp Image 2026-04-29 at 19.28.3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4926716"/>
          </a:xfrm>
          <a:prstGeom prst="rect">
            <a:avLst/>
          </a:prstGeom>
          <a:ln w="12700">
            <a:solidFill>
              <a:srgbClr val="2E9CC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5989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EB86B"/>
                </a:solidFill>
                <a:latin typeface="Calibri"/>
              </a:rPr>
              <a:t>Etat normal -- mouvement detecte (badge MVT)</a:t>
            </a:r>
          </a:p>
        </p:txBody>
      </p:sp>
      <p:pic>
        <p:nvPicPr>
          <p:cNvPr id="8" name="Picture 7" descr="WhatsApp Image 2026-04-29 at 19.28.25 (2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5303520" cy="4685545"/>
          </a:xfrm>
          <a:prstGeom prst="rect">
            <a:avLst/>
          </a:prstGeom>
          <a:ln w="12700">
            <a:solidFill>
              <a:srgbClr val="2E9CC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0" y="5989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03E3E"/>
                </a:solidFill>
                <a:latin typeface="Calibri"/>
              </a:rPr>
              <a:t>Apres commande de verrouillage (badge rouge)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Le bouton de verrouillage envoie une commande MQTT a l'ESP32 -&gt; relais bascule -&gt; retour visuel sur le dashboard en &lt; 1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Realisation 4/6 - Systeme d'alertes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Detection automatique des depassements</a:t>
            </a:r>
          </a:p>
        </p:txBody>
      </p:sp>
      <p:pic>
        <p:nvPicPr>
          <p:cNvPr id="6" name="Picture 5" descr="WhatsApp Image 2026-04-29 at 19.28.2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8229600" cy="3939921"/>
          </a:xfrm>
          <a:prstGeom prst="rect">
            <a:avLst/>
          </a:prstGeom>
          <a:ln w="12700">
            <a:solidFill>
              <a:srgbClr val="2E9CC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869680" y="1417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A"/>
                </a:solidFill>
                <a:latin typeface="Calibri"/>
              </a:rPr>
              <a:t>3 niveaux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828800"/>
            <a:ext cx="1097280" cy="36576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INFO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286000"/>
            <a:ext cx="1097280" cy="365760"/>
          </a:xfrm>
          <a:prstGeom prst="roundRect">
            <a:avLst/>
          </a:prstGeom>
          <a:solidFill>
            <a:srgbClr val="F28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743200"/>
            <a:ext cx="1097280" cy="365760"/>
          </a:xfrm>
          <a:prstGeom prst="round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383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1F3A"/>
                </a:solidFill>
                <a:latin typeface="Calibri"/>
              </a:rPr>
              <a:t>Cas montre (Salle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749039"/>
            <a:ext cx="310896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Air degrade : 1769 ppm (CRITICAL)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Bruit eleve : 88% (WARNING)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Temperature : 28.7C (WARNING)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Auto-effacement quand normalise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Realisation 5/6 - Demo bout-en-bout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Capteur Wokwi -&gt; ESP32 -&gt; MQTT -&gt; Dashboard -&gt; Alerte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A"/>
                </a:solidFill>
                <a:latin typeface="Calibri"/>
              </a:rPr>
              <a:t>1) Manipulation Wokwi (DHT22)</a:t>
            </a:r>
          </a:p>
        </p:txBody>
      </p:sp>
      <p:pic>
        <p:nvPicPr>
          <p:cNvPr id="7" name="Picture 6" descr="WhatsApp Image 2026-04-29 at 19.28.38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3749039" cy="1898291"/>
          </a:xfrm>
          <a:prstGeom prst="rect">
            <a:avLst/>
          </a:prstGeom>
          <a:ln w="12700">
            <a:solidFill>
              <a:srgbClr val="2E9CC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251959" y="12801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A"/>
                </a:solidFill>
                <a:latin typeface="Calibri"/>
              </a:rPr>
              <a:t>2) Le dashboard reagit</a:t>
            </a:r>
          </a:p>
        </p:txBody>
      </p:sp>
      <p:pic>
        <p:nvPicPr>
          <p:cNvPr id="9" name="Picture 8" descr="WhatsApp Image 2026-04-29 at 19.28.38 (2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554480"/>
            <a:ext cx="3749039" cy="3207941"/>
          </a:xfrm>
          <a:prstGeom prst="rect">
            <a:avLst/>
          </a:prstGeom>
          <a:ln w="12700">
            <a:solidFill>
              <a:srgbClr val="2E9CC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138158" y="12801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1F3A"/>
                </a:solidFill>
                <a:latin typeface="Calibri"/>
              </a:rPr>
              <a:t>3) Alerte WARNING generee</a:t>
            </a:r>
          </a:p>
        </p:txBody>
      </p:sp>
      <p:pic>
        <p:nvPicPr>
          <p:cNvPr id="11" name="Picture 10" descr="WhatsApp Image 2026-04-29 at 19.28.38 (3)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58" y="3200400"/>
            <a:ext cx="3749039" cy="103099"/>
          </a:xfrm>
          <a:prstGeom prst="rect">
            <a:avLst/>
          </a:prstGeom>
          <a:ln w="12700">
            <a:solidFill>
              <a:srgbClr val="2E9CCA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1F3A"/>
                </a:solidFill>
                <a:latin typeface="Calibri"/>
              </a:rPr>
              <a:t>Ce qu'on prouve avec cette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112471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La chaine complete (capteur -&gt; ESP32 -&gt; MQTT -&gt; serveur -&gt; navigateur) fonctionne en moins d'une seconde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Les seuils declenchent une alerte automatique des qu'ils sont franchis (28C ici)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900" b="1">
                <a:solidFill>
                  <a:srgbClr val="2E9CCA"/>
                </a:solidFill>
              </a:rPr>
              <a:t>●  </a:t>
            </a:r>
            <a:r>
              <a:rPr sz="1100">
                <a:solidFill>
                  <a:srgbClr val="333333"/>
                </a:solidFill>
                <a:latin typeface="Calibri"/>
              </a:rPr>
              <a:t>Toute manipulation cote capteur est immediatement visible cote utilisateur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Realisation 6/6 - Simulation du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ESP32 + capteurs sur Wokwi</a:t>
            </a:r>
          </a:p>
        </p:txBody>
      </p:sp>
      <p:pic>
        <p:nvPicPr>
          <p:cNvPr id="6" name="Picture 5" descr="WhatsApp Image 2026-04-29 at 19.28.25 (3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400800" cy="4409184"/>
          </a:xfrm>
          <a:prstGeom prst="rect">
            <a:avLst/>
          </a:prstGeom>
          <a:ln w="12700">
            <a:solidFill>
              <a:srgbClr val="2E9CC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65760" y="51663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Simulateur Wokwi -- ESP32 + 7 capteurs + relais + LEDs</a:t>
            </a:r>
          </a:p>
        </p:txBody>
      </p:sp>
      <p:pic>
        <p:nvPicPr>
          <p:cNvPr id="8" name="Picture 7" descr="WhatsApp Image 2026-04-29 at 19.28.25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17320"/>
            <a:ext cx="4846320" cy="4311237"/>
          </a:xfrm>
          <a:prstGeom prst="rect">
            <a:avLst/>
          </a:prstGeom>
          <a:ln w="12700">
            <a:solidFill>
              <a:srgbClr val="2E9CC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040880" y="3291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Vue rapprochee du circuit</a:t>
            </a:r>
          </a:p>
        </p:txBody>
      </p:sp>
      <p:pic>
        <p:nvPicPr>
          <p:cNvPr id="10" name="Picture 9" descr="WhatsApp Image 2026-04-29 at 19.28.3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657600"/>
            <a:ext cx="4846320" cy="2470673"/>
          </a:xfrm>
          <a:prstGeom prst="rect">
            <a:avLst/>
          </a:prstGeom>
          <a:ln w="12700">
            <a:solidFill>
              <a:srgbClr val="2E9CC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040880" y="5532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Manipulation du PIR : bouton 'Simulate motion'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On peut declencher mouvement, modifier T/H, jouer sur lumiere et bruit -- le tout sans materiel reel.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9DCEC"/>
                </a:solidFill>
                <a:latin typeface="Calibri"/>
              </a:rPr>
              <a:t>Bilan et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1F3A"/>
                </a:solidFill>
                <a:latin typeface="Calibri"/>
              </a:rPr>
              <a:t>Bilan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2E9CCA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Une chaine IoT complete et fonctionnelle, du capteur au tableau de bord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2E9CCA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Architecture modulaire et extensible (multi-salles, seuils dynamiques)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2E9CCA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Code organise, scripts d'installation multi-OS, documentation README detaillee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2E9CCA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Demonstration physique (Wokwi) + scenario simule pour la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1F3A"/>
                </a:solidFill>
                <a:latin typeface="Calibri"/>
              </a:rPr>
              <a:t>Perspectives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F28B30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Migration du stockage JSON vers MySQL / PostgreSQL en production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F28B30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Authentification du dashboard et MQTT prive (TLS + ACL)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F28B30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Application mobile pour les surveillants et l'administration</a:t>
            </a:r>
          </a:p>
          <a:p>
            <a:pPr algn="l">
              <a:lnSpc>
                <a:spcPct val="125000"/>
              </a:lnSpc>
            </a:pPr>
            <a:r>
              <a:t>  </a:t>
            </a:r>
            <a:r>
              <a:rPr sz="1200" b="1">
                <a:solidFill>
                  <a:srgbClr val="F28B30"/>
                </a:solidFill>
              </a:rPr>
              <a:t>●  </a:t>
            </a:r>
            <a:r>
              <a:rPr sz="1400">
                <a:solidFill>
                  <a:srgbClr val="333333"/>
                </a:solidFill>
                <a:latin typeface="Calibri"/>
              </a:rPr>
              <a:t>Modeles d'IA pour predire les pics de CO2 et la frequentation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Smart School IoT  -  EMSI 2025/2026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A9DCEC"/>
                </a:solidFill>
                <a:latin typeface="Calibri"/>
              </a:rPr>
              <a:t>Questions / Demonstration en direct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Soufiane Kelmous  -  Abdellah Elmir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A9DCEC"/>
                </a:solidFill>
                <a:latin typeface="Calibri"/>
              </a:rPr>
              <a:t>EMSI  -  Data &amp; IA  - 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